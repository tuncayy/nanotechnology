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95" r:id="rId2"/>
    <p:sldId id="257" r:id="rId3"/>
    <p:sldId id="258" r:id="rId4"/>
    <p:sldId id="259" r:id="rId5"/>
    <p:sldId id="260" r:id="rId6"/>
    <p:sldId id="261" r:id="rId7"/>
    <p:sldId id="262" r:id="rId8"/>
    <p:sldId id="263" r:id="rId9"/>
    <p:sldId id="264" r:id="rId10"/>
    <p:sldId id="265" r:id="rId11"/>
    <p:sldId id="267" r:id="rId12"/>
    <p:sldId id="266" r:id="rId13"/>
    <p:sldId id="273" r:id="rId14"/>
    <p:sldId id="277" r:id="rId15"/>
    <p:sldId id="274" r:id="rId16"/>
    <p:sldId id="268" r:id="rId17"/>
    <p:sldId id="284" r:id="rId18"/>
    <p:sldId id="285" r:id="rId19"/>
    <p:sldId id="269" r:id="rId20"/>
    <p:sldId id="270" r:id="rId21"/>
    <p:sldId id="286" r:id="rId22"/>
    <p:sldId id="272" r:id="rId23"/>
    <p:sldId id="271" r:id="rId24"/>
    <p:sldId id="293" r:id="rId25"/>
    <p:sldId id="287" r:id="rId26"/>
    <p:sldId id="275" r:id="rId27"/>
    <p:sldId id="276" r:id="rId28"/>
    <p:sldId id="282" r:id="rId29"/>
    <p:sldId id="278" r:id="rId30"/>
    <p:sldId id="280" r:id="rId31"/>
    <p:sldId id="288" r:id="rId32"/>
    <p:sldId id="289" r:id="rId33"/>
    <p:sldId id="290" r:id="rId34"/>
    <p:sldId id="291" r:id="rId35"/>
    <p:sldId id="292"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42" autoAdjust="0"/>
    <p:restoredTop sz="81351" autoAdjust="0"/>
  </p:normalViewPr>
  <p:slideViewPr>
    <p:cSldViewPr>
      <p:cViewPr>
        <p:scale>
          <a:sx n="95" d="100"/>
          <a:sy n="95" d="100"/>
        </p:scale>
        <p:origin x="-974" y="6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12786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3872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78541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11/16/2017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54437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11/16/2017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34822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11/16/2017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68681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11/16/2017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91460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12719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33727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06941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40238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11/16/2017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52164640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hal.archives-ouvertes.fr/hal-01565119/document" TargetMode="External"/><Relationship Id="rId2" Type="http://schemas.openxmlformats.org/officeDocument/2006/relationships/hyperlink" Target="http://willware.blogspot.com.tr/2008/03/" TargetMode="External"/><Relationship Id="rId1" Type="http://schemas.openxmlformats.org/officeDocument/2006/relationships/slideLayout" Target="../slideLayouts/slideLayout2.xml"/><Relationship Id="rId5" Type="http://schemas.openxmlformats.org/officeDocument/2006/relationships/hyperlink" Target="http://en.0wikipedia.org/index.php?q=aHR0cHM6Ly9lbi53aWtpcGVkaWEub3JnL3dpa2kvQ2FyYm9uX25hbm90dWJl" TargetMode="External"/><Relationship Id="rId4" Type="http://schemas.openxmlformats.org/officeDocument/2006/relationships/hyperlink" Target="http://en.0wikipedia.org/index.php?q=aHR0cHM6Ly9lbi53aWtpcGVkaWEub3JnL3dpa2kvTmFub3JhZGlvI1Byb3BlcnRpZX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err="1" smtClean="0"/>
              <a:t>Nanoelectronic</a:t>
            </a:r>
            <a:r>
              <a:rPr lang="en-US" dirty="0" smtClean="0"/>
              <a:t> </a:t>
            </a:r>
            <a:r>
              <a:rPr lang="en-US" dirty="0" err="1" smtClean="0"/>
              <a:t>Metarials</a:t>
            </a:r>
            <a:r>
              <a:rPr lang="en-US" dirty="0" smtClean="0"/>
              <a:t> and Devices</a:t>
            </a:r>
            <a:endParaRPr lang="en-US" dirty="0"/>
          </a:p>
        </p:txBody>
      </p:sp>
      <p:sp>
        <p:nvSpPr>
          <p:cNvPr id="3" name="Subtitle 2"/>
          <p:cNvSpPr>
            <a:spLocks noGrp="1"/>
          </p:cNvSpPr>
          <p:nvPr>
            <p:ph type="subTitle" idx="1"/>
          </p:nvPr>
        </p:nvSpPr>
        <p:spPr/>
        <p:txBody>
          <a:bodyPr>
            <a:normAutofit/>
          </a:bodyPr>
          <a:lstStyle/>
          <a:p>
            <a:r>
              <a:rPr lang="en-US" dirty="0" err="1" smtClean="0"/>
              <a:t>Tuncay</a:t>
            </a:r>
            <a:r>
              <a:rPr lang="en-US" dirty="0" smtClean="0"/>
              <a:t> Yılmaz 1401020010</a:t>
            </a:r>
          </a:p>
          <a:p>
            <a:r>
              <a:rPr lang="en-US" dirty="0" err="1" smtClean="0"/>
              <a:t>Kaan</a:t>
            </a:r>
            <a:r>
              <a:rPr lang="en-US" dirty="0" smtClean="0"/>
              <a:t> </a:t>
            </a:r>
            <a:r>
              <a:rPr lang="en-US" dirty="0" err="1" smtClean="0"/>
              <a:t>Baysal</a:t>
            </a:r>
            <a:r>
              <a:rPr lang="en-US" dirty="0" smtClean="0"/>
              <a:t> 130102</a:t>
            </a:r>
          </a:p>
          <a:p>
            <a:r>
              <a:rPr lang="en-US" dirty="0" err="1" smtClean="0"/>
              <a:t>Selim</a:t>
            </a:r>
            <a:r>
              <a:rPr lang="en-US" dirty="0" smtClean="0"/>
              <a:t> </a:t>
            </a:r>
            <a:r>
              <a:rPr lang="en-US" dirty="0" err="1" smtClean="0"/>
              <a:t>Saral</a:t>
            </a:r>
            <a:r>
              <a:rPr lang="en-US" dirty="0" smtClean="0"/>
              <a:t> 150102</a:t>
            </a:r>
            <a:endParaRPr lang="en-US" dirty="0"/>
          </a:p>
        </p:txBody>
      </p:sp>
    </p:spTree>
    <p:extLst>
      <p:ext uri="{BB962C8B-B14F-4D97-AF65-F5344CB8AC3E}">
        <p14:creationId xmlns:p14="http://schemas.microsoft.com/office/powerpoint/2010/main" val="4100408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Nanoelectronics</a:t>
            </a:r>
            <a:endParaRPr lang="en-US" dirty="0"/>
          </a:p>
        </p:txBody>
      </p:sp>
      <p:sp>
        <p:nvSpPr>
          <p:cNvPr id="3" name="Content Placeholder 2"/>
          <p:cNvSpPr>
            <a:spLocks noGrp="1"/>
          </p:cNvSpPr>
          <p:nvPr>
            <p:ph idx="1"/>
          </p:nvPr>
        </p:nvSpPr>
        <p:spPr/>
        <p:txBody>
          <a:bodyPr/>
          <a:lstStyle/>
          <a:p>
            <a:r>
              <a:rPr lang="en-US" b="1" dirty="0" err="1"/>
              <a:t>Nanoelectronics</a:t>
            </a:r>
            <a:r>
              <a:rPr lang="en-US" dirty="0"/>
              <a:t> refer to the use </a:t>
            </a:r>
            <a:r>
              <a:rPr lang="en-US" dirty="0" smtClean="0"/>
              <a:t>of</a:t>
            </a:r>
            <a:r>
              <a:rPr lang="en-US" dirty="0"/>
              <a:t> nanotechnology in electronic </a:t>
            </a:r>
            <a:r>
              <a:rPr lang="en-US" dirty="0" smtClean="0"/>
              <a:t>components</a:t>
            </a:r>
          </a:p>
          <a:p>
            <a:r>
              <a:rPr lang="en-US" dirty="0"/>
              <a:t>The term covers a diverse set of devices and materials, with the common characteristic that they are so small that inter-atomic </a:t>
            </a:r>
            <a:r>
              <a:rPr lang="en-US" dirty="0" smtClean="0"/>
              <a:t>interactions.</a:t>
            </a:r>
            <a:endParaRPr lang="en-US" dirty="0"/>
          </a:p>
        </p:txBody>
      </p:sp>
    </p:spTree>
    <p:extLst>
      <p:ext uri="{BB962C8B-B14F-4D97-AF65-F5344CB8AC3E}">
        <p14:creationId xmlns:p14="http://schemas.microsoft.com/office/powerpoint/2010/main" val="99174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800" dirty="0"/>
              <a:t>hybrid molecular/semiconductor electronics, </a:t>
            </a:r>
            <a:r>
              <a:rPr lang="en-US" sz="2800" dirty="0" smtClean="0"/>
              <a:t>one-dimensional</a:t>
            </a:r>
            <a:r>
              <a:rPr lang="en-US" sz="2800" dirty="0"/>
              <a:t> nanotubes/nanowires </a:t>
            </a:r>
            <a:r>
              <a:rPr lang="en-US" sz="2800" dirty="0" smtClean="0"/>
              <a:t>or </a:t>
            </a:r>
            <a:r>
              <a:rPr lang="en-US" sz="2800" dirty="0"/>
              <a:t>advanced molecular electronics</a:t>
            </a:r>
            <a:r>
              <a:rPr lang="en-US" sz="2800" dirty="0" smtClean="0"/>
              <a:t>.</a:t>
            </a:r>
          </a:p>
          <a:p>
            <a:r>
              <a:rPr lang="en-US" dirty="0"/>
              <a:t> </a:t>
            </a:r>
            <a:r>
              <a:rPr lang="en-US" sz="2800" dirty="0"/>
              <a:t>Recent silicon CMOS technology generations, such as the 22 nanometer node, are already within this regime.</a:t>
            </a:r>
          </a:p>
        </p:txBody>
      </p:sp>
    </p:spTree>
    <p:extLst>
      <p:ext uri="{BB962C8B-B14F-4D97-AF65-F5344CB8AC3E}">
        <p14:creationId xmlns:p14="http://schemas.microsoft.com/office/powerpoint/2010/main" val="107071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1965 Gordon Moore observed that silicon transistors were undergoing a continual process of scaling downward, an observation which was later codified as Moore's law</a:t>
            </a:r>
            <a:r>
              <a:rPr lang="en-US" dirty="0" smtClean="0"/>
              <a:t>.</a:t>
            </a:r>
          </a:p>
          <a:p>
            <a:r>
              <a:rPr lang="en-US" dirty="0"/>
              <a:t>transistor minimum feature sizes have decreased from 10 micrometers to the 28-22 nm range in 2011</a:t>
            </a:r>
          </a:p>
        </p:txBody>
      </p:sp>
    </p:spTree>
    <p:extLst>
      <p:ext uri="{BB962C8B-B14F-4D97-AF65-F5344CB8AC3E}">
        <p14:creationId xmlns:p14="http://schemas.microsoft.com/office/powerpoint/2010/main" val="2799486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field of </a:t>
            </a:r>
            <a:r>
              <a:rPr lang="en-US" dirty="0" err="1" smtClean="0"/>
              <a:t>nanoelectronics</a:t>
            </a:r>
            <a:r>
              <a:rPr lang="en-US" dirty="0" smtClean="0"/>
              <a:t> </a:t>
            </a:r>
            <a:r>
              <a:rPr lang="en-US" dirty="0"/>
              <a:t>aims to enable the continued realization of this law by using new methods and materials to build electronic devices with feature sizes on the </a:t>
            </a:r>
            <a:r>
              <a:rPr lang="en-US" dirty="0" smtClean="0"/>
              <a:t>nanoscale.</a:t>
            </a:r>
          </a:p>
          <a:p>
            <a:r>
              <a:rPr lang="en-US" dirty="0"/>
              <a:t>The critical length scale of integrated </a:t>
            </a:r>
            <a:r>
              <a:rPr lang="en-US" dirty="0" smtClean="0"/>
              <a:t>circuits</a:t>
            </a:r>
            <a:r>
              <a:rPr lang="en-US" dirty="0"/>
              <a:t> </a:t>
            </a:r>
            <a:r>
              <a:rPr lang="en-US" dirty="0" smtClean="0"/>
              <a:t>is </a:t>
            </a:r>
            <a:r>
              <a:rPr lang="en-US" dirty="0"/>
              <a:t>already at the nanoscale (50 nm and below) regarding the gate length of transistors in CPUs or DRAM devices.</a:t>
            </a:r>
          </a:p>
        </p:txBody>
      </p:sp>
    </p:spTree>
    <p:extLst>
      <p:ext uri="{BB962C8B-B14F-4D97-AF65-F5344CB8AC3E}">
        <p14:creationId xmlns:p14="http://schemas.microsoft.com/office/powerpoint/2010/main" val="2124233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Computers</a:t>
            </a:r>
            <a:br>
              <a:rPr lang="en-US" b="1" dirty="0"/>
            </a:br>
            <a:endParaRPr lang="en-US" dirty="0"/>
          </a:p>
        </p:txBody>
      </p:sp>
      <p:sp>
        <p:nvSpPr>
          <p:cNvPr id="3" name="Content Placeholder 2"/>
          <p:cNvSpPr>
            <a:spLocks noGrp="1"/>
          </p:cNvSpPr>
          <p:nvPr>
            <p:ph idx="1"/>
          </p:nvPr>
        </p:nvSpPr>
        <p:spPr/>
        <p:txBody>
          <a:bodyPr/>
          <a:lstStyle/>
          <a:p>
            <a:r>
              <a:rPr lang="en-US" dirty="0" err="1"/>
              <a:t>Nanoelectronics</a:t>
            </a:r>
            <a:r>
              <a:rPr lang="en-US" dirty="0"/>
              <a:t> holds the promise of making computer processors </a:t>
            </a:r>
            <a:r>
              <a:rPr lang="en-US" dirty="0" smtClean="0"/>
              <a:t>more</a:t>
            </a:r>
          </a:p>
          <a:p>
            <a:pPr marL="0" indent="0">
              <a:buNone/>
            </a:pPr>
            <a:r>
              <a:rPr lang="en-US" dirty="0"/>
              <a:t> </a:t>
            </a:r>
            <a:r>
              <a:rPr lang="en-US" dirty="0" smtClean="0"/>
              <a:t>   powerful </a:t>
            </a:r>
            <a:r>
              <a:rPr lang="en-US" dirty="0"/>
              <a:t>than are possible with </a:t>
            </a:r>
            <a:r>
              <a:rPr lang="en-US" dirty="0" smtClean="0"/>
              <a:t>               conventional</a:t>
            </a:r>
            <a:r>
              <a:rPr lang="en-US" dirty="0"/>
              <a:t> </a:t>
            </a:r>
            <a:r>
              <a:rPr lang="en-US" dirty="0" smtClean="0"/>
              <a:t>semiconductor        </a:t>
            </a:r>
            <a:r>
              <a:rPr lang="en-US" dirty="0" smtClean="0"/>
              <a:t>fabrication</a:t>
            </a:r>
            <a:r>
              <a:rPr lang="en-US" dirty="0"/>
              <a:t> techniques</a:t>
            </a:r>
            <a:r>
              <a:rPr lang="en-US" dirty="0" smtClean="0"/>
              <a:t>.</a:t>
            </a:r>
          </a:p>
          <a:p>
            <a:endParaRPr lang="en-US" dirty="0"/>
          </a:p>
        </p:txBody>
      </p:sp>
      <p:pic>
        <p:nvPicPr>
          <p:cNvPr id="2050" name="Picture 2" descr="C:\Users\tuncaymsi\Desktop\nano sunum\Captur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800" y="990600"/>
            <a:ext cx="1333500" cy="5578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3964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1999, the CMOS transistor developed at the Laboratory for Electronics and Information Technology in Grenoble, France, tested the limits of the principles of the MOSFET transistor with a diameter of 18 nm </a:t>
            </a:r>
            <a:endParaRPr lang="en-US" dirty="0" smtClean="0"/>
          </a:p>
          <a:p>
            <a:r>
              <a:rPr lang="en-US" dirty="0" smtClean="0"/>
              <a:t>It </a:t>
            </a:r>
            <a:r>
              <a:rPr lang="en-US" dirty="0"/>
              <a:t>enabled the theoretical integration of seven billion junctions on a €1 coin</a:t>
            </a:r>
          </a:p>
        </p:txBody>
      </p:sp>
    </p:spTree>
    <p:extLst>
      <p:ext uri="{BB962C8B-B14F-4D97-AF65-F5344CB8AC3E}">
        <p14:creationId xmlns:p14="http://schemas.microsoft.com/office/powerpoint/2010/main" val="1017718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Today it would be impossible to master the coordinated assembly of a large number of these transistors on a circuit and it would also be impossible to create this on an industrial level.</a:t>
            </a:r>
          </a:p>
        </p:txBody>
      </p:sp>
    </p:spTree>
    <p:extLst>
      <p:ext uri="{BB962C8B-B14F-4D97-AF65-F5344CB8AC3E}">
        <p14:creationId xmlns:p14="http://schemas.microsoft.com/office/powerpoint/2010/main" val="4193396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Memory Storage</a:t>
            </a:r>
            <a:br>
              <a:rPr lang="en-US" b="1" dirty="0"/>
            </a:br>
            <a:endParaRPr lang="en-US" dirty="0"/>
          </a:p>
        </p:txBody>
      </p:sp>
      <p:sp>
        <p:nvSpPr>
          <p:cNvPr id="3" name="Content Placeholder 2"/>
          <p:cNvSpPr>
            <a:spLocks noGrp="1"/>
          </p:cNvSpPr>
          <p:nvPr>
            <p:ph idx="1"/>
          </p:nvPr>
        </p:nvSpPr>
        <p:spPr/>
        <p:txBody>
          <a:bodyPr/>
          <a:lstStyle/>
          <a:p>
            <a:r>
              <a:rPr lang="en-US" dirty="0"/>
              <a:t>Electronic memory designs in the past have largely relied on the formation of </a:t>
            </a:r>
            <a:r>
              <a:rPr lang="en-US" dirty="0" smtClean="0"/>
              <a:t>transistors.</a:t>
            </a:r>
          </a:p>
          <a:p>
            <a:r>
              <a:rPr lang="en-US" dirty="0"/>
              <a:t> </a:t>
            </a:r>
            <a:r>
              <a:rPr lang="en-US" dirty="0" smtClean="0"/>
              <a:t>Currently, crossbar </a:t>
            </a:r>
            <a:r>
              <a:rPr lang="en-US" dirty="0"/>
              <a:t>switch based electronics have offered an alternative using reconfigurable interconnections between vertical and horizontal wiring arrays to create ultra high density memories.</a:t>
            </a:r>
          </a:p>
        </p:txBody>
      </p:sp>
    </p:spTree>
    <p:extLst>
      <p:ext uri="{BB962C8B-B14F-4D97-AF65-F5344CB8AC3E}">
        <p14:creationId xmlns:p14="http://schemas.microsoft.com/office/powerpoint/2010/main" val="4217285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descr="C:\Users\tuncaymsi\Desktop\nano sunum\Figure-4-The-crossbar-as-a-combination-of-a-4-4-demultiplexer-top-right-a-4-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6324600" cy="6389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0946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 Two leaders in this area are </a:t>
            </a:r>
            <a:r>
              <a:rPr lang="en-US" dirty="0" err="1" smtClean="0"/>
              <a:t>Nantero</a:t>
            </a:r>
            <a:r>
              <a:rPr lang="en-US" dirty="0"/>
              <a:t> which has developed a carbon nanotube based crossbar memory called Nano-RAM</a:t>
            </a:r>
          </a:p>
        </p:txBody>
      </p:sp>
      <p:pic>
        <p:nvPicPr>
          <p:cNvPr id="5122" name="Picture 2" descr="C:\Users\tuncaymsi\Desktop\nano sunum\cpb152894f1_h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299" y="3505200"/>
            <a:ext cx="8864701"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1335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pic>
        <p:nvPicPr>
          <p:cNvPr id="4099" name="Picture 3" descr="C:\Users\tuncaymsi\Desktop\nano sunum\310px-NRAM_fabri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066800"/>
            <a:ext cx="7915225"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1340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565" y="152400"/>
            <a:ext cx="8229600" cy="487362"/>
          </a:xfrm>
        </p:spPr>
        <p:txBody>
          <a:bodyPr>
            <a:normAutofit fontScale="90000"/>
          </a:bodyPr>
          <a:lstStyle/>
          <a:p>
            <a:r>
              <a:rPr lang="en-US" b="1" dirty="0"/>
              <a:t>Energy </a:t>
            </a:r>
            <a:r>
              <a:rPr lang="en-US" b="1" dirty="0" smtClean="0"/>
              <a:t>Production</a:t>
            </a:r>
            <a:endParaRPr lang="en-US" dirty="0"/>
          </a:p>
        </p:txBody>
      </p:sp>
      <p:sp>
        <p:nvSpPr>
          <p:cNvPr id="3" name="Content Placeholder 2"/>
          <p:cNvSpPr>
            <a:spLocks noGrp="1"/>
          </p:cNvSpPr>
          <p:nvPr>
            <p:ph idx="1"/>
          </p:nvPr>
        </p:nvSpPr>
        <p:spPr>
          <a:xfrm>
            <a:off x="498565" y="655002"/>
            <a:ext cx="8229600" cy="2590800"/>
          </a:xfrm>
        </p:spPr>
        <p:txBody>
          <a:bodyPr>
            <a:normAutofit fontScale="85000" lnSpcReduction="20000"/>
          </a:bodyPr>
          <a:lstStyle/>
          <a:p>
            <a:r>
              <a:rPr lang="en-US" dirty="0"/>
              <a:t>Research is ongoing to use nanowires and other nanostructured materials with the hope to create cheaper and more efficient solar cells than are possible with conventional planar silicon solar </a:t>
            </a:r>
            <a:r>
              <a:rPr lang="en-US" dirty="0" smtClean="0"/>
              <a:t>cells</a:t>
            </a:r>
            <a:r>
              <a:rPr lang="en-US" dirty="0" smtClean="0"/>
              <a:t>. It </a:t>
            </a:r>
            <a:r>
              <a:rPr lang="en-US" dirty="0"/>
              <a:t>is believed that the invention of more efficient solar energy would have a great effect on satisfying global energy needs.</a:t>
            </a:r>
          </a:p>
          <a:p>
            <a:endParaRPr lang="en-US" dirty="0" smtClean="0"/>
          </a:p>
          <a:p>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3089366"/>
            <a:ext cx="3742116" cy="3733800"/>
          </a:xfrm>
          <a:prstGeom prst="rect">
            <a:avLst/>
          </a:prstGeom>
        </p:spPr>
      </p:pic>
    </p:spTree>
    <p:extLst>
      <p:ext uri="{BB962C8B-B14F-4D97-AF65-F5344CB8AC3E}">
        <p14:creationId xmlns:p14="http://schemas.microsoft.com/office/powerpoint/2010/main" val="4176665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Energy Production</a:t>
            </a:r>
            <a:endParaRPr lang="en-US" dirty="0"/>
          </a:p>
        </p:txBody>
      </p:sp>
      <p:sp>
        <p:nvSpPr>
          <p:cNvPr id="3" name="Content Placeholder 2"/>
          <p:cNvSpPr>
            <a:spLocks noGrp="1"/>
          </p:cNvSpPr>
          <p:nvPr>
            <p:ph idx="1"/>
          </p:nvPr>
        </p:nvSpPr>
        <p:spPr/>
        <p:txBody>
          <a:bodyPr>
            <a:normAutofit lnSpcReduction="10000"/>
          </a:bodyPr>
          <a:lstStyle/>
          <a:p>
            <a:r>
              <a:rPr lang="en-US" dirty="0"/>
              <a:t>There is also research into energy production for devices that would operate </a:t>
            </a:r>
            <a:r>
              <a:rPr lang="en-US" i="1" dirty="0"/>
              <a:t>in vivo</a:t>
            </a:r>
            <a:r>
              <a:rPr lang="en-US" dirty="0"/>
              <a:t>, called bio-</a:t>
            </a:r>
            <a:r>
              <a:rPr lang="en-US" dirty="0" err="1"/>
              <a:t>nano</a:t>
            </a:r>
            <a:r>
              <a:rPr lang="en-US" dirty="0"/>
              <a:t> generators. A bio-</a:t>
            </a:r>
            <a:r>
              <a:rPr lang="en-US" dirty="0" err="1"/>
              <a:t>nano</a:t>
            </a:r>
            <a:r>
              <a:rPr lang="en-US" dirty="0"/>
              <a:t> generator is a </a:t>
            </a:r>
            <a:r>
              <a:rPr lang="en-US" dirty="0" smtClean="0"/>
              <a:t>nanoscale </a:t>
            </a:r>
            <a:r>
              <a:rPr lang="en-US" dirty="0"/>
              <a:t>electrochemical device, like a fuel cell or galvanic cell, but drawing power from blood </a:t>
            </a:r>
            <a:r>
              <a:rPr lang="en-US" dirty="0" smtClean="0"/>
              <a:t>glucose</a:t>
            </a:r>
            <a:r>
              <a:rPr lang="en-US" dirty="0"/>
              <a:t> </a:t>
            </a:r>
            <a:r>
              <a:rPr lang="en-US" dirty="0" smtClean="0"/>
              <a:t>in </a:t>
            </a:r>
            <a:r>
              <a:rPr lang="en-US" dirty="0"/>
              <a:t>a living body, much the same as how the body generates energy from food. To achieve the effect, an enzyme is used that is capable of stripping glucose of its electrons, freeing them for use in electrical devices.</a:t>
            </a:r>
          </a:p>
          <a:p>
            <a:endParaRPr lang="en-US" dirty="0"/>
          </a:p>
        </p:txBody>
      </p:sp>
    </p:spTree>
    <p:extLst>
      <p:ext uri="{BB962C8B-B14F-4D97-AF65-F5344CB8AC3E}">
        <p14:creationId xmlns:p14="http://schemas.microsoft.com/office/powerpoint/2010/main" val="3726611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Energy Production</a:t>
            </a:r>
            <a:endParaRPr lang="en-US" dirty="0"/>
          </a:p>
        </p:txBody>
      </p:sp>
      <p:sp>
        <p:nvSpPr>
          <p:cNvPr id="3" name="Content Placeholder 2"/>
          <p:cNvSpPr>
            <a:spLocks noGrp="1"/>
          </p:cNvSpPr>
          <p:nvPr>
            <p:ph idx="1"/>
          </p:nvPr>
        </p:nvSpPr>
        <p:spPr/>
        <p:txBody>
          <a:bodyPr>
            <a:normAutofit fontScale="70000" lnSpcReduction="20000"/>
          </a:bodyPr>
          <a:lstStyle/>
          <a:p>
            <a:r>
              <a:rPr lang="en-US" dirty="0"/>
              <a:t> The average person's body could, theoretically, generate 100 watts of electricity (about 2000 food calories per day) using a bio-</a:t>
            </a:r>
            <a:r>
              <a:rPr lang="en-US" dirty="0" err="1"/>
              <a:t>nano</a:t>
            </a:r>
            <a:r>
              <a:rPr lang="en-US" dirty="0"/>
              <a:t> generator</a:t>
            </a:r>
            <a:r>
              <a:rPr lang="en-US" dirty="0" smtClean="0"/>
              <a:t>. </a:t>
            </a:r>
            <a:r>
              <a:rPr lang="en-US" dirty="0"/>
              <a:t>However, this estimate is only true if all food was converted to electricity, and the human body needs some energy consistently, so possible power generated is likely much lower. </a:t>
            </a:r>
            <a:endParaRPr lang="en-US" dirty="0" smtClean="0"/>
          </a:p>
          <a:p>
            <a:endParaRPr lang="en-US" dirty="0"/>
          </a:p>
          <a:p>
            <a:endParaRPr lang="en-US" dirty="0" smtClean="0"/>
          </a:p>
          <a:p>
            <a:r>
              <a:rPr lang="en-US" dirty="0" smtClean="0"/>
              <a:t>The </a:t>
            </a:r>
            <a:r>
              <a:rPr lang="en-US" dirty="0"/>
              <a:t>electricity generated by such a device could power devices embedded in the body (such as pacemakers), or sugar-fed </a:t>
            </a:r>
            <a:r>
              <a:rPr lang="en-US" dirty="0" err="1"/>
              <a:t>nanorobots</a:t>
            </a:r>
            <a:r>
              <a:rPr lang="en-US" dirty="0"/>
              <a:t>. Much of the research done on bio-</a:t>
            </a:r>
            <a:r>
              <a:rPr lang="en-US" dirty="0" err="1"/>
              <a:t>nano</a:t>
            </a:r>
            <a:r>
              <a:rPr lang="en-US" dirty="0"/>
              <a:t> generators is still experimental, with Panasonic's Nanotechnology Research Laboratory among those at the forefront.</a:t>
            </a:r>
          </a:p>
          <a:p>
            <a:endParaRPr lang="en-US" dirty="0"/>
          </a:p>
        </p:txBody>
      </p:sp>
    </p:spTree>
    <p:extLst>
      <p:ext uri="{BB962C8B-B14F-4D97-AF65-F5344CB8AC3E}">
        <p14:creationId xmlns:p14="http://schemas.microsoft.com/office/powerpoint/2010/main" val="2637687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Novel Optoelectronic </a:t>
            </a:r>
            <a:r>
              <a:rPr lang="en-US" b="1" dirty="0" smtClean="0"/>
              <a:t>Devices</a:t>
            </a:r>
            <a:endParaRPr lang="en-US" dirty="0"/>
          </a:p>
        </p:txBody>
      </p:sp>
      <p:sp>
        <p:nvSpPr>
          <p:cNvPr id="3" name="Content Placeholder 2"/>
          <p:cNvSpPr>
            <a:spLocks noGrp="1"/>
          </p:cNvSpPr>
          <p:nvPr>
            <p:ph idx="1"/>
          </p:nvPr>
        </p:nvSpPr>
        <p:spPr>
          <a:xfrm>
            <a:off x="457200" y="1295400"/>
            <a:ext cx="8229600" cy="4525963"/>
          </a:xfrm>
        </p:spPr>
        <p:txBody>
          <a:bodyPr>
            <a:normAutofit/>
          </a:bodyPr>
          <a:lstStyle/>
          <a:p>
            <a:r>
              <a:rPr lang="en-US" dirty="0"/>
              <a:t>In the modern communication technology traditional analog electrical devices are increasingly replaced by optical or optoelectronic devices due to their enormous bandwidth and capacity, respectively. </a:t>
            </a:r>
            <a:endParaRPr lang="en-US" dirty="0" smtClean="0"/>
          </a:p>
          <a:p>
            <a:pPr marL="0" indent="0">
              <a:buNone/>
            </a:pPr>
            <a:endParaRPr lang="en-US" dirty="0" smtClean="0"/>
          </a:p>
          <a:p>
            <a:endParaRPr lang="en-US" dirty="0"/>
          </a:p>
        </p:txBody>
      </p:sp>
    </p:spTree>
    <p:extLst>
      <p:ext uri="{BB962C8B-B14F-4D97-AF65-F5344CB8AC3E}">
        <p14:creationId xmlns:p14="http://schemas.microsoft.com/office/powerpoint/2010/main" val="930756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Two promising examples are photonic crystals and quantum dots. Photonic crystals are materials with a periodic variation in the refractive index with a lattice constant that is half the wavelength of the light used. They offer a selectable band gap for the propagation of a certain wavelength, thus they resemble a semiconductor, but for light or photons instead of electrons. </a:t>
            </a:r>
          </a:p>
          <a:p>
            <a:endParaRPr lang="en-US" dirty="0"/>
          </a:p>
        </p:txBody>
      </p:sp>
    </p:spTree>
    <p:extLst>
      <p:ext uri="{BB962C8B-B14F-4D97-AF65-F5344CB8AC3E}">
        <p14:creationId xmlns:p14="http://schemas.microsoft.com/office/powerpoint/2010/main" val="22985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descr="C:\Users\tuncaymsi\Desktop\nano sunum\3D-Samp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909" y="846138"/>
            <a:ext cx="7696200" cy="5399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284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09600"/>
            <a:ext cx="8229600" cy="4525963"/>
          </a:xfrm>
        </p:spPr>
        <p:txBody>
          <a:bodyPr/>
          <a:lstStyle/>
          <a:p>
            <a:r>
              <a:rPr lang="en-US" sz="2000" dirty="0"/>
              <a:t>Quantum dots are </a:t>
            </a:r>
            <a:r>
              <a:rPr lang="en-US" sz="2000" dirty="0" err="1"/>
              <a:t>nanoscaled</a:t>
            </a:r>
            <a:r>
              <a:rPr lang="en-US" sz="2000" dirty="0"/>
              <a:t> objects, which can be used, among many other things, for the construction of lasers. The advantage of a quantum dot laser over the traditional semiconductor laser is that their emitted wavelength depends on the diameter of the dot. Quantum dot lasers are cheaper and offer a higher beam quality than conventional laser diodes.</a:t>
            </a:r>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6574" y="2743200"/>
            <a:ext cx="4866052" cy="3255457"/>
          </a:xfrm>
          <a:prstGeom prst="rect">
            <a:avLst/>
          </a:prstGeom>
        </p:spPr>
      </p:pic>
      <p:pic>
        <p:nvPicPr>
          <p:cNvPr id="1026" name="Picture 2" descr="C:\Users\tuncaymsi\Desktop\nano sunum\qdsizes-spectrum.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438400"/>
            <a:ext cx="5943600"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0508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Displays</a:t>
            </a:r>
            <a:endParaRPr lang="en-US" dirty="0"/>
          </a:p>
        </p:txBody>
      </p:sp>
      <p:sp>
        <p:nvSpPr>
          <p:cNvPr id="3" name="Content Placeholder 2"/>
          <p:cNvSpPr>
            <a:spLocks noGrp="1"/>
          </p:cNvSpPr>
          <p:nvPr>
            <p:ph idx="1"/>
          </p:nvPr>
        </p:nvSpPr>
        <p:spPr>
          <a:xfrm>
            <a:off x="457200" y="1417638"/>
            <a:ext cx="8229600" cy="4754562"/>
          </a:xfrm>
        </p:spPr>
        <p:txBody>
          <a:bodyPr>
            <a:normAutofit fontScale="92500" lnSpcReduction="20000"/>
          </a:bodyPr>
          <a:lstStyle/>
          <a:p>
            <a:r>
              <a:rPr lang="en-US" dirty="0"/>
              <a:t>The production of displays with low energy consumption might be accomplished using carbon nanotubes (CNT) and/or Silicon nanowires. </a:t>
            </a:r>
            <a:endParaRPr lang="en-US" dirty="0" smtClean="0"/>
          </a:p>
          <a:p>
            <a:pPr marL="0" indent="0">
              <a:buNone/>
            </a:pPr>
            <a:endParaRPr lang="en-US" dirty="0" smtClean="0"/>
          </a:p>
          <a:p>
            <a:r>
              <a:rPr lang="en-US" dirty="0" smtClean="0"/>
              <a:t>Such </a:t>
            </a:r>
            <a:r>
              <a:rPr lang="en-US" dirty="0"/>
              <a:t>nanostructures are electrically conductive and due to their small diameter of several nanometers, they can be used as field emitters with extremely high efficiency for field emission displays (FED). The principle of operation resembles that of the cathode ray tube, but on a much smaller length scale</a:t>
            </a:r>
          </a:p>
        </p:txBody>
      </p:sp>
    </p:spTree>
    <p:extLst>
      <p:ext uri="{BB962C8B-B14F-4D97-AF65-F5344CB8AC3E}">
        <p14:creationId xmlns:p14="http://schemas.microsoft.com/office/powerpoint/2010/main" val="2975919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Field Emission Display</a:t>
            </a:r>
            <a:endParaRPr lang="en-US" dirty="0"/>
          </a:p>
        </p:txBody>
      </p:sp>
      <p:sp>
        <p:nvSpPr>
          <p:cNvPr id="3" name="Content Placeholder 2"/>
          <p:cNvSpPr>
            <a:spLocks noGrp="1"/>
          </p:cNvSpPr>
          <p:nvPr>
            <p:ph idx="1"/>
          </p:nvPr>
        </p:nvSpPr>
        <p:spPr/>
        <p:txBody>
          <a:bodyPr>
            <a:normAutofit fontScale="92500"/>
          </a:bodyPr>
          <a:lstStyle/>
          <a:p>
            <a:endParaRPr lang="en-US" dirty="0" smtClean="0"/>
          </a:p>
          <a:p>
            <a:endParaRPr lang="en-US" dirty="0"/>
          </a:p>
          <a:p>
            <a:endParaRPr lang="en-US" dirty="0" smtClean="0"/>
          </a:p>
          <a:p>
            <a:endParaRPr lang="en-US" dirty="0"/>
          </a:p>
          <a:p>
            <a:endParaRPr lang="en-US" dirty="0" smtClean="0"/>
          </a:p>
          <a:p>
            <a:r>
              <a:rPr lang="en-US" dirty="0"/>
              <a:t> FED consists of a matrix of cathode ray tubes, each tube producing a single sub-pixel, grouped in threes to form red-green-blue (RGB) pixels. </a:t>
            </a:r>
          </a:p>
        </p:txBody>
      </p:sp>
      <p:pic>
        <p:nvPicPr>
          <p:cNvPr id="3074" name="Picture 2" descr="C:\Users\tuncaymsi\Desktop\nano sunum\0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7909" y="1219200"/>
            <a:ext cx="5915496" cy="3131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6926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Quantum Computers</a:t>
            </a:r>
            <a:endParaRPr lang="en-US" dirty="0"/>
          </a:p>
        </p:txBody>
      </p:sp>
      <p:sp>
        <p:nvSpPr>
          <p:cNvPr id="3" name="Content Placeholder 2"/>
          <p:cNvSpPr>
            <a:spLocks noGrp="1"/>
          </p:cNvSpPr>
          <p:nvPr>
            <p:ph idx="1"/>
          </p:nvPr>
        </p:nvSpPr>
        <p:spPr/>
        <p:txBody>
          <a:bodyPr>
            <a:normAutofit fontScale="92500"/>
          </a:bodyPr>
          <a:lstStyle/>
          <a:p>
            <a:r>
              <a:rPr lang="en-US" dirty="0"/>
              <a:t>Entirely new approaches for computing exploit the laws of quantum mechanics for novel quantum computers, which enable the use of fast quantum algorithms. </a:t>
            </a:r>
            <a:endParaRPr lang="en-US" dirty="0" smtClean="0"/>
          </a:p>
          <a:p>
            <a:pPr marL="0" indent="0">
              <a:buNone/>
            </a:pPr>
            <a:endParaRPr lang="en-US" dirty="0"/>
          </a:p>
          <a:p>
            <a:r>
              <a:rPr lang="en-US" dirty="0" smtClean="0"/>
              <a:t>The </a:t>
            </a:r>
            <a:r>
              <a:rPr lang="en-US" dirty="0"/>
              <a:t>Quantum computer has quantum bit memory space termed "Qubit" for several computations at the same time. This facility may improve the performance of the older </a:t>
            </a:r>
            <a:r>
              <a:rPr lang="en-US" dirty="0" smtClean="0"/>
              <a:t>systems.</a:t>
            </a:r>
            <a:endParaRPr lang="en-US" dirty="0"/>
          </a:p>
        </p:txBody>
      </p:sp>
    </p:spTree>
    <p:extLst>
      <p:ext uri="{BB962C8B-B14F-4D97-AF65-F5344CB8AC3E}">
        <p14:creationId xmlns:p14="http://schemas.microsoft.com/office/powerpoint/2010/main" val="24752231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Quantum </a:t>
            </a:r>
            <a:r>
              <a:rPr lang="en-US" b="1" dirty="0" smtClean="0"/>
              <a:t>Computers</a:t>
            </a:r>
            <a:endParaRPr lang="en-US" dirty="0"/>
          </a:p>
        </p:txBody>
      </p:sp>
      <p:sp>
        <p:nvSpPr>
          <p:cNvPr id="3" name="Content Placeholder 2"/>
          <p:cNvSpPr>
            <a:spLocks noGrp="1"/>
          </p:cNvSpPr>
          <p:nvPr>
            <p:ph idx="1"/>
          </p:nvPr>
        </p:nvSpPr>
        <p:spPr/>
        <p:txBody>
          <a:bodyPr/>
          <a:lstStyle/>
          <a:p>
            <a:r>
              <a:rPr lang="en-US" b="1" dirty="0"/>
              <a:t>Quantum computing</a:t>
            </a:r>
            <a:r>
              <a:rPr lang="en-US" dirty="0"/>
              <a:t> studies computation systems (</a:t>
            </a:r>
            <a:r>
              <a:rPr lang="en-US" b="1" dirty="0"/>
              <a:t>quantum computers</a:t>
            </a:r>
            <a:r>
              <a:rPr lang="en-US" dirty="0"/>
              <a:t>) that make direct use of </a:t>
            </a:r>
            <a:r>
              <a:rPr lang="en-US" dirty="0" smtClean="0"/>
              <a:t>quantum-mechanical phenomena</a:t>
            </a:r>
            <a:r>
              <a:rPr lang="en-US" dirty="0"/>
              <a:t>, such as superposition and entanglement, to perform operations on </a:t>
            </a:r>
            <a:r>
              <a:rPr lang="en-US" dirty="0" smtClean="0"/>
              <a:t>data.</a:t>
            </a:r>
            <a:endParaRPr lang="en-US" dirty="0"/>
          </a:p>
        </p:txBody>
      </p:sp>
    </p:spTree>
    <p:extLst>
      <p:ext uri="{BB962C8B-B14F-4D97-AF65-F5344CB8AC3E}">
        <p14:creationId xmlns:p14="http://schemas.microsoft.com/office/powerpoint/2010/main" val="21532698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descr="C:\Users\tuncaymsi\Desktop\nano sunum\IBM-Quantum-computer.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0200" y="1219200"/>
            <a:ext cx="5617458" cy="4635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1613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descr="C:\Users\tuncaymsi\Desktop\nano sunum\Slide1-1024x57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23999"/>
            <a:ext cx="8001000" cy="4500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0466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783" y="32657"/>
            <a:ext cx="8229600" cy="1143000"/>
          </a:xfrm>
        </p:spPr>
        <p:txBody>
          <a:bodyPr>
            <a:normAutofit/>
          </a:bodyPr>
          <a:lstStyle/>
          <a:p>
            <a:r>
              <a:rPr lang="en-US" b="1" dirty="0"/>
              <a:t>Medical </a:t>
            </a:r>
            <a:r>
              <a:rPr lang="en-US" b="1" dirty="0" smtClean="0"/>
              <a:t>Diagnostics</a:t>
            </a:r>
            <a:endParaRPr lang="en-US" dirty="0"/>
          </a:p>
        </p:txBody>
      </p:sp>
      <p:sp>
        <p:nvSpPr>
          <p:cNvPr id="3" name="Content Placeholder 2"/>
          <p:cNvSpPr>
            <a:spLocks noGrp="1"/>
          </p:cNvSpPr>
          <p:nvPr>
            <p:ph idx="1"/>
          </p:nvPr>
        </p:nvSpPr>
        <p:spPr>
          <a:xfrm>
            <a:off x="422366" y="912224"/>
            <a:ext cx="8229600" cy="2895599"/>
          </a:xfrm>
        </p:spPr>
        <p:txBody>
          <a:bodyPr>
            <a:normAutofit/>
          </a:bodyPr>
          <a:lstStyle/>
          <a:p>
            <a:r>
              <a:rPr lang="en-US" dirty="0"/>
              <a:t>There is great interest in constructing </a:t>
            </a:r>
            <a:r>
              <a:rPr lang="en-US" dirty="0" err="1"/>
              <a:t>nanoelectronic</a:t>
            </a:r>
            <a:r>
              <a:rPr lang="en-US" dirty="0"/>
              <a:t> </a:t>
            </a:r>
            <a:r>
              <a:rPr lang="en-US" dirty="0" smtClean="0"/>
              <a:t>devices</a:t>
            </a:r>
            <a:r>
              <a:rPr lang="en-US" baseline="30000" dirty="0" smtClean="0"/>
              <a:t> </a:t>
            </a:r>
            <a:r>
              <a:rPr lang="en-US" dirty="0" smtClean="0"/>
              <a:t>that </a:t>
            </a:r>
            <a:r>
              <a:rPr lang="en-US" dirty="0"/>
              <a:t>could detect the concentrations of biomolecules in real time for use as medical </a:t>
            </a:r>
            <a:r>
              <a:rPr lang="en-US" dirty="0" smtClean="0"/>
              <a:t>diagnostics, </a:t>
            </a:r>
            <a:r>
              <a:rPr lang="en-US" dirty="0"/>
              <a:t>thus falling into the category of </a:t>
            </a:r>
            <a:r>
              <a:rPr lang="en-US" dirty="0" err="1"/>
              <a:t>nanomedicine</a:t>
            </a:r>
            <a:r>
              <a:rPr lang="en-US" dirty="0" smtClean="0"/>
              <a:t>.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2383" y="3505200"/>
            <a:ext cx="4724400" cy="3149600"/>
          </a:xfrm>
          <a:prstGeom prst="rect">
            <a:avLst/>
          </a:prstGeom>
        </p:spPr>
      </p:pic>
    </p:spTree>
    <p:extLst>
      <p:ext uri="{BB962C8B-B14F-4D97-AF65-F5344CB8AC3E}">
        <p14:creationId xmlns:p14="http://schemas.microsoft.com/office/powerpoint/2010/main" val="1458721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Medical Diagnostics</a:t>
            </a:r>
            <a:endParaRPr lang="en-US" dirty="0"/>
          </a:p>
        </p:txBody>
      </p:sp>
      <p:sp>
        <p:nvSpPr>
          <p:cNvPr id="3" name="Content Placeholder 2"/>
          <p:cNvSpPr>
            <a:spLocks noGrp="1"/>
          </p:cNvSpPr>
          <p:nvPr>
            <p:ph idx="1"/>
          </p:nvPr>
        </p:nvSpPr>
        <p:spPr>
          <a:xfrm>
            <a:off x="457200" y="1981200"/>
            <a:ext cx="8229600" cy="3352800"/>
          </a:xfrm>
        </p:spPr>
        <p:txBody>
          <a:bodyPr>
            <a:normAutofit/>
          </a:bodyPr>
          <a:lstStyle/>
          <a:p>
            <a:r>
              <a:rPr lang="en-US" sz="2000" dirty="0"/>
              <a:t>A parallel line of research seeks to create </a:t>
            </a:r>
            <a:r>
              <a:rPr lang="en-US" sz="2000" dirty="0" err="1"/>
              <a:t>nanoelectronic</a:t>
            </a:r>
            <a:r>
              <a:rPr lang="en-US" sz="2000" dirty="0"/>
              <a:t> devices which could interact with single cells for use in basic biological research. These devices are called </a:t>
            </a:r>
            <a:r>
              <a:rPr lang="en-US" sz="2000" dirty="0" err="1"/>
              <a:t>nanosensors</a:t>
            </a:r>
            <a:r>
              <a:rPr lang="en-US" sz="2000" dirty="0"/>
              <a:t>. </a:t>
            </a:r>
            <a:endParaRPr lang="en-US" sz="2000" dirty="0" smtClean="0"/>
          </a:p>
          <a:p>
            <a:endParaRPr lang="en-US" dirty="0"/>
          </a:p>
        </p:txBody>
      </p:sp>
      <p:pic>
        <p:nvPicPr>
          <p:cNvPr id="5122" name="Picture 2" descr="C:\Users\tuncaymsi\Desktop\nano sunum\2_Nan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3276600"/>
            <a:ext cx="3378201" cy="2924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27218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Medical diagnostic</a:t>
            </a:r>
          </a:p>
        </p:txBody>
      </p:sp>
      <p:sp>
        <p:nvSpPr>
          <p:cNvPr id="3" name="Content Placeholder 2"/>
          <p:cNvSpPr>
            <a:spLocks noGrp="1"/>
          </p:cNvSpPr>
          <p:nvPr>
            <p:ph idx="1"/>
          </p:nvPr>
        </p:nvSpPr>
        <p:spPr/>
        <p:txBody>
          <a:bodyPr>
            <a:normAutofit/>
          </a:bodyPr>
          <a:lstStyle/>
          <a:p>
            <a:r>
              <a:rPr lang="en-US" dirty="0"/>
              <a:t>Nanotechnology offers tools and techniques for more effective detection, diagnosis and treatment of </a:t>
            </a:r>
            <a:r>
              <a:rPr lang="en-US" dirty="0" smtClean="0"/>
              <a:t>diseases.</a:t>
            </a:r>
          </a:p>
          <a:p>
            <a:r>
              <a:rPr lang="en-US" dirty="0" err="1" smtClean="0"/>
              <a:t>Nanorobots</a:t>
            </a:r>
            <a:r>
              <a:rPr lang="en-US" dirty="0" smtClean="0"/>
              <a:t> will be able to do</a:t>
            </a:r>
          </a:p>
          <a:p>
            <a:pPr lvl="3"/>
            <a:r>
              <a:rPr lang="en-US" dirty="0"/>
              <a:t>Drug </a:t>
            </a:r>
            <a:r>
              <a:rPr lang="en-US" dirty="0" smtClean="0"/>
              <a:t>delivery</a:t>
            </a:r>
          </a:p>
          <a:p>
            <a:pPr lvl="3"/>
            <a:r>
              <a:rPr lang="en-US" dirty="0" smtClean="0"/>
              <a:t>Cancer detection</a:t>
            </a:r>
            <a:endParaRPr lang="en-US" dirty="0"/>
          </a:p>
          <a:p>
            <a:pPr lvl="3"/>
            <a:r>
              <a:rPr lang="en-US" dirty="0"/>
              <a:t>Imaging</a:t>
            </a:r>
          </a:p>
          <a:p>
            <a:pPr lvl="3"/>
            <a:r>
              <a:rPr lang="en-US" dirty="0"/>
              <a:t>Sensing</a:t>
            </a:r>
          </a:p>
          <a:p>
            <a:pPr lvl="3"/>
            <a:r>
              <a:rPr lang="en-US" dirty="0"/>
              <a:t>Blood purification</a:t>
            </a:r>
          </a:p>
          <a:p>
            <a:pPr lvl="3"/>
            <a:r>
              <a:rPr lang="en-US" dirty="0"/>
              <a:t>Tissue engineering</a:t>
            </a:r>
          </a:p>
          <a:p>
            <a:endParaRPr lang="en-US" dirty="0"/>
          </a:p>
        </p:txBody>
      </p:sp>
    </p:spTree>
    <p:extLst>
      <p:ext uri="{BB962C8B-B14F-4D97-AF65-F5344CB8AC3E}">
        <p14:creationId xmlns:p14="http://schemas.microsoft.com/office/powerpoint/2010/main" val="951799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Nano Radios</a:t>
            </a:r>
            <a:endParaRPr lang="en-US" dirty="0"/>
          </a:p>
        </p:txBody>
      </p:sp>
      <p:sp>
        <p:nvSpPr>
          <p:cNvPr id="3" name="Content Placeholder 2"/>
          <p:cNvSpPr>
            <a:spLocks noGrp="1"/>
          </p:cNvSpPr>
          <p:nvPr>
            <p:ph idx="1"/>
          </p:nvPr>
        </p:nvSpPr>
        <p:spPr/>
        <p:txBody>
          <a:bodyPr/>
          <a:lstStyle/>
          <a:p>
            <a:r>
              <a:rPr lang="en-US" dirty="0"/>
              <a:t>a nanotechnology acting as a radio transmitter and receiver by using carbon </a:t>
            </a:r>
            <a:r>
              <a:rPr lang="en-US" dirty="0" smtClean="0"/>
              <a:t>nanotubes.</a:t>
            </a:r>
            <a:endParaRPr lang="en-US" dirty="0"/>
          </a:p>
        </p:txBody>
      </p:sp>
      <p:pic>
        <p:nvPicPr>
          <p:cNvPr id="1027" name="Picture 3" descr="C:\Users\tuncaymsi\Desktop\nano sunum\0308-nanoradio_x6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667000"/>
            <a:ext cx="7315200" cy="399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21184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Carbon Nanotube(CNT)</a:t>
            </a:r>
            <a:endParaRPr lang="en-US" dirty="0"/>
          </a:p>
        </p:txBody>
      </p:sp>
      <p:sp>
        <p:nvSpPr>
          <p:cNvPr id="3" name="Content Placeholder 2"/>
          <p:cNvSpPr>
            <a:spLocks noGrp="1"/>
          </p:cNvSpPr>
          <p:nvPr>
            <p:ph idx="1"/>
          </p:nvPr>
        </p:nvSpPr>
        <p:spPr/>
        <p:txBody>
          <a:bodyPr>
            <a:normAutofit/>
          </a:bodyPr>
          <a:lstStyle/>
          <a:p>
            <a:r>
              <a:rPr lang="en-US" sz="2400" b="1" dirty="0"/>
              <a:t>Carbon nanotubes</a:t>
            </a:r>
            <a:r>
              <a:rPr lang="en-US" sz="2400" dirty="0"/>
              <a:t> (</a:t>
            </a:r>
            <a:r>
              <a:rPr lang="en-US" sz="2400" b="1" dirty="0"/>
              <a:t>CNTs</a:t>
            </a:r>
            <a:r>
              <a:rPr lang="en-US" sz="2400" dirty="0"/>
              <a:t>) are allotropes of carbon with a cylindrical nanostructure. </a:t>
            </a:r>
            <a:endParaRPr lang="en-US" sz="2400" dirty="0" smtClean="0"/>
          </a:p>
          <a:p>
            <a:r>
              <a:rPr lang="en-US" sz="2400" dirty="0" smtClean="0"/>
              <a:t>Valuable for</a:t>
            </a:r>
            <a:r>
              <a:rPr lang="en-US" sz="2400" dirty="0"/>
              <a:t> </a:t>
            </a:r>
            <a:r>
              <a:rPr lang="en-US" sz="2400" dirty="0" smtClean="0"/>
              <a:t>nanotechnology, electronics,</a:t>
            </a:r>
            <a:r>
              <a:rPr lang="en-US" sz="2400" dirty="0"/>
              <a:t> </a:t>
            </a:r>
            <a:r>
              <a:rPr lang="en-US" sz="2400" dirty="0" smtClean="0"/>
              <a:t>optics</a:t>
            </a:r>
            <a:r>
              <a:rPr lang="en-US" sz="2400" dirty="0"/>
              <a:t> and other fields of materials science and technology.</a:t>
            </a:r>
            <a:endParaRPr lang="en-US" sz="2400" b="1" dirty="0"/>
          </a:p>
        </p:txBody>
      </p:sp>
      <p:pic>
        <p:nvPicPr>
          <p:cNvPr id="2050" name="Picture 2" descr="C:\Users\tuncaymsi\Desktop\nano sunum\carbon-nanotube-3-63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184358"/>
            <a:ext cx="8382000" cy="3649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65751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Carbon Nanotube(CNT)</a:t>
            </a:r>
          </a:p>
        </p:txBody>
      </p:sp>
      <p:sp>
        <p:nvSpPr>
          <p:cNvPr id="3" name="Content Placeholder 2"/>
          <p:cNvSpPr>
            <a:spLocks noGrp="1"/>
          </p:cNvSpPr>
          <p:nvPr>
            <p:ph idx="1"/>
          </p:nvPr>
        </p:nvSpPr>
        <p:spPr/>
        <p:txBody>
          <a:bodyPr/>
          <a:lstStyle/>
          <a:p>
            <a:r>
              <a:rPr lang="en-US" dirty="0"/>
              <a:t>CNT are at least 100 times stronger than steel, but only one-sixth as heavy </a:t>
            </a:r>
            <a:endParaRPr lang="en-US" dirty="0" smtClean="0"/>
          </a:p>
          <a:p>
            <a:r>
              <a:rPr lang="en-US" dirty="0"/>
              <a:t>nanotube fibers could strengthen almost any material</a:t>
            </a:r>
            <a:r>
              <a:rPr lang="en-US" dirty="0" smtClean="0"/>
              <a:t>.</a:t>
            </a:r>
          </a:p>
          <a:p>
            <a:r>
              <a:rPr lang="en-US" dirty="0"/>
              <a:t>conduct heat and electricity far better than copper.</a:t>
            </a:r>
          </a:p>
        </p:txBody>
      </p:sp>
    </p:spTree>
    <p:extLst>
      <p:ext uri="{BB962C8B-B14F-4D97-AF65-F5344CB8AC3E}">
        <p14:creationId xmlns:p14="http://schemas.microsoft.com/office/powerpoint/2010/main" val="24397889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Nano Radios</a:t>
            </a:r>
            <a:endParaRPr lang="en-US" dirty="0"/>
          </a:p>
        </p:txBody>
      </p:sp>
      <p:sp>
        <p:nvSpPr>
          <p:cNvPr id="3" name="Content Placeholder 2"/>
          <p:cNvSpPr>
            <a:spLocks noGrp="1"/>
          </p:cNvSpPr>
          <p:nvPr>
            <p:ph idx="1"/>
          </p:nvPr>
        </p:nvSpPr>
        <p:spPr/>
        <p:txBody>
          <a:bodyPr/>
          <a:lstStyle/>
          <a:p>
            <a:r>
              <a:rPr lang="en-US" dirty="0" smtClean="0"/>
              <a:t>Radio </a:t>
            </a:r>
            <a:r>
              <a:rPr lang="en-US" dirty="0"/>
              <a:t>antenna made from a single conductive carbon nanotube (less than a micron long and </a:t>
            </a:r>
            <a:r>
              <a:rPr lang="en-US" dirty="0" smtClean="0"/>
              <a:t>10 nm </a:t>
            </a:r>
            <a:r>
              <a:rPr lang="en-US" dirty="0"/>
              <a:t>wide) positioned between two conductive plates.</a:t>
            </a:r>
          </a:p>
        </p:txBody>
      </p:sp>
      <p:pic>
        <p:nvPicPr>
          <p:cNvPr id="3074" name="Picture 2" descr="C:\Users\tuncaymsi\Desktop\nano sunum\0308-nanoradio_x6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581401"/>
            <a:ext cx="71628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7472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Nano Radios</a:t>
            </a:r>
          </a:p>
        </p:txBody>
      </p:sp>
      <p:sp>
        <p:nvSpPr>
          <p:cNvPr id="3" name="Content Placeholder 2"/>
          <p:cNvSpPr>
            <a:spLocks noGrp="1"/>
          </p:cNvSpPr>
          <p:nvPr>
            <p:ph idx="1"/>
          </p:nvPr>
        </p:nvSpPr>
        <p:spPr/>
        <p:txBody>
          <a:bodyPr>
            <a:normAutofit fontScale="77500" lnSpcReduction="20000"/>
          </a:bodyPr>
          <a:lstStyle/>
          <a:p>
            <a:r>
              <a:rPr lang="en-US" dirty="0"/>
              <a:t>When a voltage is placed across the two plates, the nanotube's free end becomes electrically charged oppositely from the nearby plate, and the electrostatic attraction keeps the nanotube under mechanical tension</a:t>
            </a:r>
            <a:r>
              <a:rPr lang="en-US" dirty="0" smtClean="0"/>
              <a:t>.</a:t>
            </a:r>
          </a:p>
          <a:p>
            <a:r>
              <a:rPr lang="en-US" dirty="0"/>
              <a:t>E</a:t>
            </a:r>
            <a:r>
              <a:rPr lang="en-US" dirty="0" smtClean="0"/>
              <a:t>lectrically </a:t>
            </a:r>
            <a:r>
              <a:rPr lang="en-US" dirty="0"/>
              <a:t>charged </a:t>
            </a:r>
            <a:r>
              <a:rPr lang="en-US" dirty="0" smtClean="0"/>
              <a:t>plate moves </a:t>
            </a:r>
            <a:r>
              <a:rPr lang="en-US" dirty="0"/>
              <a:t>in response to an ambient radio frequency electric </a:t>
            </a:r>
            <a:r>
              <a:rPr lang="en-US" dirty="0" smtClean="0"/>
              <a:t>field</a:t>
            </a:r>
          </a:p>
          <a:p>
            <a:r>
              <a:rPr lang="en-US" dirty="0"/>
              <a:t>The resonant frequency of the antenna is simply the mechanical resonant frequency of the nanotube under tension</a:t>
            </a:r>
            <a:r>
              <a:rPr lang="en-US" dirty="0" smtClean="0"/>
              <a:t>.</a:t>
            </a:r>
          </a:p>
          <a:p>
            <a:r>
              <a:rPr lang="en-US" dirty="0"/>
              <a:t>The tension </a:t>
            </a:r>
            <a:r>
              <a:rPr lang="en-US" dirty="0" smtClean="0"/>
              <a:t>be changed </a:t>
            </a:r>
            <a:r>
              <a:rPr lang="en-US" dirty="0"/>
              <a:t>by changing the voltage across the two conducting plates, and in this way the radio can be </a:t>
            </a:r>
            <a:r>
              <a:rPr lang="en-US" dirty="0" smtClean="0"/>
              <a:t>tuned.</a:t>
            </a:r>
            <a:endParaRPr lang="en-US" dirty="0"/>
          </a:p>
        </p:txBody>
      </p:sp>
    </p:spTree>
    <p:extLst>
      <p:ext uri="{BB962C8B-B14F-4D97-AF65-F5344CB8AC3E}">
        <p14:creationId xmlns:p14="http://schemas.microsoft.com/office/powerpoint/2010/main" val="24374656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fontScale="92500" lnSpcReduction="20000"/>
          </a:bodyPr>
          <a:lstStyle/>
          <a:p>
            <a:r>
              <a:rPr lang="en-US" dirty="0">
                <a:hlinkClick r:id="rId2"/>
              </a:rPr>
              <a:t>http://willware.blogspot.com.tr/2008/03</a:t>
            </a:r>
            <a:r>
              <a:rPr lang="en-US" dirty="0" smtClean="0">
                <a:hlinkClick r:id="rId2"/>
              </a:rPr>
              <a:t>/</a:t>
            </a:r>
            <a:endParaRPr lang="en-US" dirty="0" smtClean="0"/>
          </a:p>
          <a:p>
            <a:r>
              <a:rPr lang="en-US" dirty="0">
                <a:hlinkClick r:id="rId3"/>
              </a:rPr>
              <a:t>https://</a:t>
            </a:r>
            <a:r>
              <a:rPr lang="en-US" dirty="0" smtClean="0">
                <a:hlinkClick r:id="rId3"/>
              </a:rPr>
              <a:t>hal.archives-ouvertes.fr/hal-01565119/document</a:t>
            </a:r>
            <a:endParaRPr lang="en-US" dirty="0" smtClean="0"/>
          </a:p>
          <a:p>
            <a:r>
              <a:rPr lang="en-US" dirty="0">
                <a:hlinkClick r:id="rId4"/>
              </a:rPr>
              <a:t>http://</a:t>
            </a:r>
            <a:r>
              <a:rPr lang="en-US" dirty="0" smtClean="0">
                <a:hlinkClick r:id="rId4"/>
              </a:rPr>
              <a:t>en.0wikipedia.org/index.php?q=aHR0cHM6Ly9lbi53aWtpcGVkaWEub3JnL3dpa2kvTmFub3JhZGlvI1Byb3BlcnRpZXM</a:t>
            </a:r>
            <a:endParaRPr lang="en-US" dirty="0" smtClean="0"/>
          </a:p>
          <a:p>
            <a:r>
              <a:rPr lang="en-US" dirty="0">
                <a:hlinkClick r:id="rId5"/>
              </a:rPr>
              <a:t>http://</a:t>
            </a:r>
            <a:r>
              <a:rPr lang="en-US" dirty="0" smtClean="0">
                <a:hlinkClick r:id="rId5"/>
              </a:rPr>
              <a:t>en.0wikipedia.org/index.php?q=aHR0cHM6Ly9lbi53aWtpcGVkaWEub3JnL3dpa2kvQ2FyYm9uX25hbm90dWJl</a:t>
            </a:r>
            <a:endParaRPr lang="en-US" dirty="0" smtClean="0"/>
          </a:p>
          <a:p>
            <a:r>
              <a:rPr lang="en-US" dirty="0"/>
              <a:t>http://www.nanoscience.com/applications/education/overview/cnt-technology-overview/</a:t>
            </a:r>
          </a:p>
        </p:txBody>
      </p:sp>
    </p:spTree>
    <p:extLst>
      <p:ext uri="{BB962C8B-B14F-4D97-AF65-F5344CB8AC3E}">
        <p14:creationId xmlns:p14="http://schemas.microsoft.com/office/powerpoint/2010/main" val="20180264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546780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1550</TotalTime>
  <Words>1004</Words>
  <Application>Microsoft Office PowerPoint</Application>
  <PresentationFormat>On-screen Show (4:3)</PresentationFormat>
  <Paragraphs>89</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Nanoelectronic Metarials and Devices</vt:lpstr>
      <vt:lpstr>Nanoelectronics</vt:lpstr>
      <vt:lpstr>PowerPoint Presentation</vt:lpstr>
      <vt:lpstr>PowerPoint Presentation</vt:lpstr>
      <vt:lpstr>PowerPoint Presentation</vt:lpstr>
      <vt:lpstr>Computers </vt:lpstr>
      <vt:lpstr>PowerPoint Presentation</vt:lpstr>
      <vt:lpstr>PowerPoint Presentation</vt:lpstr>
      <vt:lpstr>Memory Storage </vt:lpstr>
      <vt:lpstr>PowerPoint Presentation</vt:lpstr>
      <vt:lpstr>PowerPoint Presentation</vt:lpstr>
      <vt:lpstr>PowerPoint Presentation</vt:lpstr>
      <vt:lpstr>Energy Production</vt:lpstr>
      <vt:lpstr>Energy Production</vt:lpstr>
      <vt:lpstr>Energy Production</vt:lpstr>
      <vt:lpstr>Novel Optoelectronic Devices</vt:lpstr>
      <vt:lpstr>PowerPoint Presentation</vt:lpstr>
      <vt:lpstr>PowerPoint Presentation</vt:lpstr>
      <vt:lpstr>PowerPoint Presentation</vt:lpstr>
      <vt:lpstr>Displays</vt:lpstr>
      <vt:lpstr>Field Emission Display</vt:lpstr>
      <vt:lpstr>Quantum Computers</vt:lpstr>
      <vt:lpstr>Quantum Computers</vt:lpstr>
      <vt:lpstr>PowerPoint Presentation</vt:lpstr>
      <vt:lpstr>PowerPoint Presentation</vt:lpstr>
      <vt:lpstr>Medical Diagnostics</vt:lpstr>
      <vt:lpstr>Medical Diagnostics</vt:lpstr>
      <vt:lpstr>Medical diagnostic</vt:lpstr>
      <vt:lpstr>Nano Radios</vt:lpstr>
      <vt:lpstr>Carbon Nanotube(CNT)</vt:lpstr>
      <vt:lpstr>Carbon Nanotube(CNT)</vt:lpstr>
      <vt:lpstr>Nano Radios</vt:lpstr>
      <vt:lpstr>Nano Radios</vt:lpstr>
      <vt:lpstr>References</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tuncay yilmaz</dc:creator>
  <cp:lastModifiedBy>tuncay yilmaz</cp:lastModifiedBy>
  <cp:revision>46</cp:revision>
  <dcterms:created xsi:type="dcterms:W3CDTF">2006-08-16T00:00:00Z</dcterms:created>
  <dcterms:modified xsi:type="dcterms:W3CDTF">2017-11-15T21:36:03Z</dcterms:modified>
</cp:coreProperties>
</file>